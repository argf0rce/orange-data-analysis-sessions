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Session 1: Getting Started with Orange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Four sessions, one destination: confident data analysis with Orange.</a:t>
            </a:r>
          </a:p>
          <a:p>
            <a:pPr lvl="0"/>
            <a:r>
              <a:rPr/>
              <a:t>Today: Orange basics. Next: statistics, cleaning &amp; EDA, then regression.</a:t>
            </a:r>
          </a:p>
          <a:p>
            <a:pPr lvl="0"/>
            <a:r>
              <a:rPr/>
              <a:t>Today’s outcomes: read a workflow, check a table, drive a chart, save a recipe.</a:t>
            </a:r>
          </a:p>
          <a:p>
            <a:pPr lvl="0"/>
            <a:r>
              <a:rPr/>
              <a:t>Watch and discuss — no software or typing needed on your side.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Orange vs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Orange is visual data analysis: you connect widgets instead of writing code.</a:t>
            </a:r>
          </a:p>
          <a:p>
            <a:pPr lvl="0"/>
            <a:r>
              <a:rPr/>
              <a:t>Python is a programming language: you write instructions yourself.</a:t>
            </a:r>
          </a:p>
          <a:p>
            <a:pPr lvl="0"/>
            <a:r>
              <a:rPr/>
              <a:t>In Orange you change a setting and see the result immediately.</a:t>
            </a:r>
          </a:p>
          <a:p>
            <a:pPr lvl="0"/>
            <a:r>
              <a:rPr/>
              <a:t>Under the hood Orange runs Python; today you drive it through the canvas.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Canvas: Widgets and Connections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Canvas: the workspace holding one analysis; saved as a single </a:t>
            </a:r>
            <a:r>
              <a:rPr>
                <a:latin typeface="Courier"/>
              </a:rPr>
              <a:t>.ows</a:t>
            </a:r>
            <a:r>
              <a:rPr/>
              <a:t> file.</a:t>
            </a:r>
          </a:p>
          <a:p>
            <a:pPr lvl="0"/>
            <a:r>
              <a:rPr/>
              <a:t>Widget: one block, one job — read data, show a table, draw a chart.</a:t>
            </a:r>
          </a:p>
          <a:p>
            <a:pPr lvl="0"/>
            <a:r>
              <a:rPr/>
              <a:t>Connection: from a widget’s output (right) to another’s input (left).</a:t>
            </a:r>
          </a:p>
          <a:p>
            <a:pPr lvl="0"/>
            <a:r>
              <a:rPr/>
              <a:t>The connection carries data — a table of rows — not decoration.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Today’s Data Comes From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Ships with Orange: the iris dataset — no download, no accounts.</a:t>
            </a:r>
          </a:p>
          <a:p>
            <a:pPr lvl="0"/>
            <a:r>
              <a:rPr/>
              <a:t>150 rows: one flower measured per row.</a:t>
            </a:r>
          </a:p>
          <a:p>
            <a:pPr lvl="0"/>
            <a:r>
              <a:rPr/>
              <a:t>Four numeric measurements: sepal and petal length and width.</a:t>
            </a:r>
          </a:p>
          <a:p>
            <a:pPr lvl="0"/>
            <a:r>
              <a:rPr/>
              <a:t>One categorical outcome: the species, three values.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Column Has a Role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Feature — an input the analysis may use: the four measurements.</a:t>
            </a:r>
          </a:p>
          <a:p>
            <a:pPr lvl="0"/>
            <a:r>
              <a:rPr/>
              <a:t>Target — the column to explain: the species.</a:t>
            </a:r>
          </a:p>
          <a:p>
            <a:pPr lvl="0"/>
            <a:r>
              <a:rPr/>
              <a:t>Meta — carried along, never an input: none in today’s data.</a:t>
            </a:r>
          </a:p>
          <a:p>
            <a:pPr lvl="0"/>
            <a:r>
              <a:rPr/>
              <a:t>The File window shows each column’s type and role; check them first.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Workflow: Two Shipped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“File and Data Table”: one block reads, one shows the rows.</a:t>
            </a:r>
          </a:p>
          <a:p>
            <a:pPr lvl="0"/>
            <a:r>
              <a:rPr/>
              <a:t>“Interactive Visualizations”: File → Scatter Plot → Data Table.</a:t>
            </a:r>
          </a:p>
          <a:p>
            <a:pPr lvl="0"/>
            <a:r>
              <a:rPr/>
              <a:t>The second table is fed by the chart’s Selected Data, not by the file.</a:t>
            </a:r>
          </a:p>
          <a:p>
            <a:pPr lvl="0"/>
            <a:r>
              <a:rPr/>
              <a:t>Select points in the chart; the table follows live.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Recap and What Comes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read a workflow, checked 150 rows, 4 features, 1 outcome.</a:t>
            </a:r>
          </a:p>
          <a:p>
            <a:pPr lvl="0"/>
            <a:r>
              <a:rPr/>
              <a:t>We changed axes, selected points, and watched a table follow.</a:t>
            </a:r>
          </a:p>
          <a:p>
            <a:pPr lvl="0"/>
            <a:r>
              <a:rPr/>
              <a:t>We saved the recipe — the workflow stores structure, not rows.</a:t>
            </a:r>
          </a:p>
          <a:p>
            <a:pPr lvl="0"/>
            <a:r>
              <a:rPr/>
              <a:t>Next session: descriptive and inferential statistics on the same data.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2026-10-06T00:29:37Z</dcterms:created>
  <dcterms:modified xsi:type="dcterms:W3CDTF">2026-10-06T00:29:37Z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